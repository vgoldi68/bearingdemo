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6656" y="484187"/>
            <a:ext cx="7772400" cy="1470025"/>
          </a:xfrm>
        </p:spPr>
        <p:txBody>
          <a:bodyPr/>
          <a:lstStyle/>
          <a:p>
            <a:r>
              <a:rPr dirty="0"/>
              <a:t>Bearing Predictive Maintenance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728" y="2029968"/>
            <a:ext cx="6400800" cy="1752600"/>
          </a:xfrm>
        </p:spPr>
        <p:txBody>
          <a:bodyPr>
            <a:noAutofit/>
          </a:bodyPr>
          <a:lstStyle/>
          <a:p>
            <a:r>
              <a:rPr sz="2000" dirty="0">
                <a:solidFill>
                  <a:schemeClr val="tx1"/>
                </a:solidFill>
              </a:rPr>
              <a:t>PoC – Degradation detection &amp; RUL estimation</a:t>
            </a:r>
          </a:p>
          <a:p>
            <a:endParaRPr sz="2000" dirty="0">
              <a:solidFill>
                <a:schemeClr val="tx1"/>
              </a:solidFill>
            </a:endParaRPr>
          </a:p>
          <a:p>
            <a:r>
              <a:rPr sz="2000" dirty="0">
                <a:solidFill>
                  <a:schemeClr val="tx1"/>
                </a:solidFill>
              </a:rPr>
              <a:t>RUL now: ~14.97 days</a:t>
            </a:r>
          </a:p>
          <a:p>
            <a:r>
              <a:rPr sz="2000" dirty="0">
                <a:solidFill>
                  <a:schemeClr val="tx1"/>
                </a:solidFill>
              </a:rPr>
              <a:t>RUL at first warning: ~14.97 days</a:t>
            </a:r>
          </a:p>
          <a:p>
            <a:r>
              <a:rPr sz="2000" dirty="0">
                <a:solidFill>
                  <a:schemeClr val="tx1"/>
                </a:solidFill>
              </a:rPr>
              <a:t>RUL at critical: ~14.79 days</a:t>
            </a:r>
          </a:p>
          <a:p>
            <a:r>
              <a:rPr sz="2000" dirty="0">
                <a:solidFill>
                  <a:schemeClr val="tx1"/>
                </a:solidFill>
              </a:rPr>
              <a:t>Estimated failure RUL (from start): ~14.97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FF3A-3D62-46FD-13F7-218877AC2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85089"/>
            <a:ext cx="7772400" cy="1470025"/>
          </a:xfrm>
        </p:spPr>
        <p:txBody>
          <a:bodyPr/>
          <a:lstStyle/>
          <a:p>
            <a:r>
              <a:rPr lang="ru-RU" dirty="0"/>
              <a:t>Эксперимент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FC0FC-81DA-D636-A4A6-16B63F750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2768" y="2350008"/>
            <a:ext cx="6400800" cy="17526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sz="2900" dirty="0">
                <a:solidFill>
                  <a:schemeClr val="tx1"/>
                </a:solidFill>
              </a:rPr>
              <a:t>- 4 подшипника на валу</a:t>
            </a:r>
          </a:p>
          <a:p>
            <a:pPr algn="l"/>
            <a:r>
              <a:rPr lang="ru-RU" sz="2900" dirty="0">
                <a:solidFill>
                  <a:schemeClr val="tx1"/>
                </a:solidFill>
              </a:rPr>
              <a:t>- Постоянная скорость: 2000 RPM</a:t>
            </a:r>
          </a:p>
          <a:p>
            <a:pPr algn="l"/>
            <a:r>
              <a:rPr lang="ru-RU" sz="2900" dirty="0">
                <a:solidFill>
                  <a:schemeClr val="tx1"/>
                </a:solidFill>
              </a:rPr>
              <a:t>- Нагрузки: 6000 lbs, пружинный механизм</a:t>
            </a:r>
          </a:p>
          <a:p>
            <a:pPr algn="l"/>
            <a:r>
              <a:rPr lang="ru-RU" sz="2900" dirty="0">
                <a:solidFill>
                  <a:schemeClr val="tx1"/>
                </a:solidFill>
              </a:rPr>
              <a:t>- Сенсоры: PCB ICP accelerometers (x/y)</a:t>
            </a:r>
          </a:p>
          <a:p>
            <a:pPr algn="l"/>
            <a:r>
              <a:rPr lang="ru-RU" sz="2900" dirty="0">
                <a:solidFill>
                  <a:schemeClr val="tx1"/>
                </a:solidFill>
              </a:rPr>
              <a:t>- Цель: наблюдать деградацию до отказа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99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77D1-1FD0-86D4-A897-DFDFCA640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lang="ru-RU" dirty="0"/>
              <a:t>Данные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4D9AD-0BD7-148D-9330-39D2FDCD4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4" y="2368296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ru-RU" sz="2200" dirty="0">
                <a:solidFill>
                  <a:schemeClr val="tx1"/>
                </a:solidFill>
              </a:rPr>
              <a:t>Формат: ASCII, 20,480 точек, 20 kHz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ru-RU" sz="2200" dirty="0">
                <a:solidFill>
                  <a:schemeClr val="tx1"/>
                </a:solidFill>
              </a:rPr>
              <a:t>Три набора данных: Set1, Set2, Set3</a:t>
            </a:r>
            <a:endParaRPr lang="en-US" sz="2200" dirty="0">
              <a:solidFill>
                <a:schemeClr val="tx1"/>
              </a:solidFill>
            </a:endParaRPr>
          </a:p>
          <a:p>
            <a:pPr algn="l"/>
            <a:r>
              <a:rPr lang="en-US" sz="2200" dirty="0">
                <a:solidFill>
                  <a:schemeClr val="tx1"/>
                </a:solidFill>
              </a:rPr>
              <a:t>- </a:t>
            </a:r>
            <a:r>
              <a:rPr lang="ru-RU" sz="2200" dirty="0">
                <a:solidFill>
                  <a:schemeClr val="tx1"/>
                </a:solidFill>
              </a:rPr>
              <a:t>Файлы: 1-секундные снимки вибраций каждые 5–10 минут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7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DF07-F350-9EE4-661F-44C6F5BE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Модель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7E95-C911-BB0E-FCCF-87A382E5E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>
                <a:effectLst/>
              </a:rPr>
              <a:t>Isolation Forest (Unsupervised Anomaly Detection)</a:t>
            </a:r>
          </a:p>
          <a:p>
            <a:pPr marL="0" indent="0">
              <a:buNone/>
            </a:pPr>
            <a:r>
              <a:rPr lang="ru-RU" sz="2000" dirty="0">
                <a:effectLst/>
              </a:rPr>
              <a:t>Метод машинного обучения без учителя, который выявляет аномалии в вибрационных данных подшипников и позволяет оценивать деградацию оборудования.</a:t>
            </a:r>
          </a:p>
          <a:p>
            <a:pPr marL="0" indent="0">
              <a:buNone/>
            </a:pPr>
            <a:r>
              <a:rPr lang="ru-RU" sz="2000" b="1" dirty="0">
                <a:effectLst/>
              </a:rPr>
              <a:t>Обучающая выборка:</a:t>
            </a:r>
            <a:r>
              <a:rPr lang="ru-RU" sz="2000" dirty="0"/>
              <a:t> первые </a:t>
            </a:r>
            <a:r>
              <a:rPr lang="ru-RU" sz="2000" b="1" dirty="0">
                <a:effectLst/>
              </a:rPr>
              <a:t>30%</a:t>
            </a:r>
            <a:r>
              <a:rPr lang="ru-RU" sz="2000" dirty="0"/>
              <a:t> временных шагов считаются </a:t>
            </a:r>
            <a:r>
              <a:rPr lang="ru-RU" sz="2000" i="1" dirty="0">
                <a:effectLst/>
              </a:rPr>
              <a:t>здоровым состоянием</a:t>
            </a:r>
            <a:r>
              <a:rPr lang="ru-RU" sz="2000" dirty="0"/>
              <a:t> и используются как baseline</a:t>
            </a:r>
          </a:p>
          <a:p>
            <a:pPr marL="0" indent="0">
              <a:buNone/>
            </a:pPr>
            <a:r>
              <a:rPr lang="ru-RU" sz="2000" b="1" dirty="0">
                <a:effectLst/>
              </a:rPr>
              <a:t>Сглаживание данных:</a:t>
            </a:r>
            <a:r>
              <a:rPr lang="ru-RU" sz="2000" dirty="0"/>
              <a:t> скользящее окно (</a:t>
            </a:r>
            <a:r>
              <a:rPr lang="ru-RU" sz="2000" b="1" dirty="0">
                <a:effectLst/>
              </a:rPr>
              <a:t>sliding window</a:t>
            </a:r>
            <a:r>
              <a:rPr lang="ru-RU" sz="2000" dirty="0"/>
              <a:t>, 20 файлов) для стабилизации признаков</a:t>
            </a:r>
          </a:p>
          <a:p>
            <a:pPr marL="0" indent="0">
              <a:buNone/>
            </a:pPr>
            <a:r>
              <a:rPr lang="ru-RU" sz="2000" b="1" dirty="0">
                <a:effectLst/>
              </a:rPr>
              <a:t>Извлекаемые признаки (</a:t>
            </a:r>
            <a:r>
              <a:rPr lang="en-US" sz="2000" b="1" dirty="0">
                <a:effectLst/>
              </a:rPr>
              <a:t>feature engineering):</a:t>
            </a:r>
            <a:endParaRPr lang="en-US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RMS (Root Mean Square)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STD (Standard Deviation)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Kurtosis (</a:t>
            </a:r>
            <a:r>
              <a:rPr lang="ru-RU" sz="2000" dirty="0">
                <a:effectLst/>
              </a:rPr>
              <a:t>Эксцесс)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Skewness (</a:t>
            </a:r>
            <a:r>
              <a:rPr lang="ru-RU" sz="2000" dirty="0">
                <a:effectLst/>
              </a:rPr>
              <a:t>Асимметрия)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Peak-to-Peak (</a:t>
            </a:r>
            <a:r>
              <a:rPr lang="ru-RU" sz="2000" dirty="0">
                <a:effectLst/>
              </a:rPr>
              <a:t>Размах сигнала)</a:t>
            </a:r>
          </a:p>
          <a:p>
            <a:pPr marL="0" indent="0">
              <a:buNone/>
            </a:pPr>
            <a:endParaRPr lang="ru-RU" sz="2000" dirty="0">
              <a:effectLst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306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Edge → Cloud Architecture (PoC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Edge:</a:t>
            </a:r>
          </a:p>
          <a:p>
            <a:r>
              <a:rPr sz="2000" dirty="0"/>
              <a:t>- Vibration sensor acquisition</a:t>
            </a:r>
          </a:p>
          <a:p>
            <a:r>
              <a:rPr sz="2000" dirty="0"/>
              <a:t>- Feature extraction (RMS, STD, kurtosis, skew, p2p)</a:t>
            </a:r>
          </a:p>
          <a:p>
            <a:r>
              <a:rPr sz="2000" dirty="0"/>
              <a:t>- Sliding window smoothing</a:t>
            </a:r>
          </a:p>
          <a:p>
            <a:endParaRPr sz="2000" dirty="0"/>
          </a:p>
          <a:p>
            <a:r>
              <a:rPr sz="2000" dirty="0"/>
              <a:t>Cloud:</a:t>
            </a:r>
          </a:p>
          <a:p>
            <a:r>
              <a:rPr sz="2000" dirty="0"/>
              <a:t>- Anomaly detection (Isolation Forest)</a:t>
            </a:r>
          </a:p>
          <a:p>
            <a:r>
              <a:rPr sz="2000" dirty="0"/>
              <a:t>- Health Index (0–100)</a:t>
            </a:r>
          </a:p>
          <a:p>
            <a:r>
              <a:rPr sz="2000" dirty="0"/>
              <a:t>- Degradation trend &amp; RUL prediction</a:t>
            </a:r>
          </a:p>
          <a:p>
            <a:r>
              <a:rPr sz="2000" dirty="0"/>
              <a:t>- Visualization &amp;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Degradation &amp; RUL Result</a:t>
            </a:r>
          </a:p>
        </p:txBody>
      </p:sp>
      <p:pic>
        <p:nvPicPr>
          <p:cNvPr id="3" name="Picture 2" descr="health_rul_pred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" y="1527048"/>
            <a:ext cx="8630463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Predictive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RUL now (days from start): 14.97</a:t>
            </a:r>
          </a:p>
          <a:p>
            <a:r>
              <a:rPr sz="2000" dirty="0"/>
              <a:t>First warning index: 0</a:t>
            </a:r>
          </a:p>
          <a:p>
            <a:r>
              <a:rPr sz="2000" dirty="0"/>
              <a:t>First warning health: 58.26</a:t>
            </a:r>
          </a:p>
          <a:p>
            <a:r>
              <a:rPr sz="2000" dirty="0"/>
              <a:t>RUL at first warning (days): 14.97</a:t>
            </a:r>
          </a:p>
          <a:p>
            <a:r>
              <a:rPr sz="2000" dirty="0"/>
              <a:t>Critical index: 25</a:t>
            </a:r>
          </a:p>
          <a:p>
            <a:r>
              <a:rPr sz="2000" dirty="0"/>
              <a:t>Critical health: 11.98</a:t>
            </a:r>
          </a:p>
          <a:p>
            <a:r>
              <a:rPr sz="2000" dirty="0"/>
              <a:t>RUL at critical (days): 14.79</a:t>
            </a:r>
          </a:p>
          <a:p>
            <a:r>
              <a:rPr sz="2000" dirty="0"/>
              <a:t>Last observed index: 2155</a:t>
            </a:r>
          </a:p>
          <a:p>
            <a:r>
              <a:rPr sz="2000" dirty="0"/>
              <a:t>Predicted failure index: 2155</a:t>
            </a:r>
          </a:p>
          <a:p>
            <a:r>
              <a:rPr sz="2000" dirty="0"/>
              <a:t>Estimated failure RUL from start (days): 14.97</a:t>
            </a:r>
          </a:p>
          <a:p>
            <a:r>
              <a:rPr sz="2000" dirty="0"/>
              <a:t>RUL CI lower (days): 14.74</a:t>
            </a:r>
          </a:p>
          <a:p>
            <a:r>
              <a:rPr sz="2000" dirty="0"/>
              <a:t>RUL CI upper (days): 15.19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334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Bearing Predictive Maintenance</vt:lpstr>
      <vt:lpstr>Эксперимент</vt:lpstr>
      <vt:lpstr>Данные</vt:lpstr>
      <vt:lpstr>Модель</vt:lpstr>
      <vt:lpstr>Edge → Cloud Architecture (PoC vision)</vt:lpstr>
      <vt:lpstr>Degradation &amp; RUL Result</vt:lpstr>
      <vt:lpstr>Key Predictive Metrics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Karina Goldobina</cp:lastModifiedBy>
  <cp:revision>2</cp:revision>
  <dcterms:created xsi:type="dcterms:W3CDTF">2013-01-27T09:14:16Z</dcterms:created>
  <dcterms:modified xsi:type="dcterms:W3CDTF">2026-01-06T16:41:25Z</dcterms:modified>
  <cp:category/>
</cp:coreProperties>
</file>